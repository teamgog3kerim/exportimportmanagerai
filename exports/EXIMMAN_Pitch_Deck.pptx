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40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300">
                <a:solidFill>
                  <a:srgbClr val="3D2817"/>
                </a:solidFill>
                <a:latin typeface="Calibri"/>
              </a:rPr>
              <a:t>EXIMMAN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FOR ETHIOPIAN IMPORTERS &amp; EXPORTERS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D2817"/>
                </a:solidFill>
                <a:latin typeface="Georgia"/>
              </a:rPr>
              <a:t>My Import</a:t>
            </a:r>
          </a:p>
          <a:p>
            <a:pPr algn="l"/>
            <a:r>
              <a:rPr sz="5400" b="1" i="0">
                <a:solidFill>
                  <a:srgbClr val="3D2817"/>
                </a:solidFill>
                <a:latin typeface="Georgia"/>
              </a:rPr>
              <a:t>&amp; Export</a:t>
            </a:r>
          </a:p>
          <a:p>
            <a:pPr algn="l"/>
            <a:r>
              <a:rPr sz="5400" b="1" i="0">
                <a:solidFill>
                  <a:srgbClr val="3D2817"/>
                </a:solidFill>
                <a:latin typeface="Georgia"/>
              </a:rPr>
              <a:t>Manager.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548640" cy="457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7665"/>
                </a:solidFill>
                <a:latin typeface="Calibri"/>
              </a:rPr>
              <a:t>One operating system for trade.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B7665"/>
                </a:solidFill>
                <a:latin typeface="Calibri"/>
              </a:rPr>
              <a:t>LC · Customs · Logistics · Inventory · Finance · FX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1207008"/>
            <a:ext cx="6912864" cy="444398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ing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6766560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46320" y="5760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8B7665"/>
                </a:solidFill>
                <a:latin typeface="Calibri"/>
              </a:rPr>
              <a:t>Product preview · 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Trade is fragmented.</a:t>
            </a:r>
          </a:p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Tools are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7665"/>
                </a:solidFill>
                <a:latin typeface="Calibri"/>
              </a:rPr>
              <a:t>Ethiopian importers and exporters juggle banks, customs, freight forwarders,</a:t>
            </a:r>
          </a:p>
          <a:p>
            <a:pPr algn="l"/>
            <a:r>
              <a:rPr sz="1400" b="0" i="0">
                <a:solidFill>
                  <a:srgbClr val="8B7665"/>
                </a:solidFill>
                <a:latin typeface="Calibri"/>
              </a:rPr>
              <a:t>spreadsheets and WhatsApp threads — across five currencies and three time zones.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Letters of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Drafted in Word, tracked in email, signed off in person.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10896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0" y="338328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977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Customs &amp; Duties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3434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Tax assessments calculated by hand for every declaration.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38328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Shipment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434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No single view from supplier to warehouse — only screenshots.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10896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338328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977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FX &amp; Cash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3434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Bank rates change hourly; petty cash lives on paper.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WHY WE BUILT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One workspace,</a:t>
            </a:r>
          </a:p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front-to-back.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7665"/>
                </a:solidFill>
                <a:latin typeface="Calibri"/>
              </a:rPr>
              <a:t>EXIMMAN unifies every step of an import or export flow into a single,</a:t>
            </a:r>
          </a:p>
          <a:p>
            <a:pPr algn="l"/>
            <a:r>
              <a:rPr sz="1400" b="0" i="0">
                <a:solidFill>
                  <a:srgbClr val="8B7665"/>
                </a:solidFill>
                <a:latin typeface="Calibri"/>
              </a:rPr>
              <a:t>calm, role-aware workspace — built for Ethiopian regulation and global trade.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26250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07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07856"/>
                </a:solidFill>
                <a:latin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0763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7665"/>
                </a:solidFill>
                <a:latin typeface="Calibri"/>
              </a:rPr>
              <a:t>Connected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2253" y="3474720"/>
            <a:ext cx="26250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6573" y="3794760"/>
            <a:ext cx="207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07856"/>
                </a:solidFill>
                <a:latin typeface="Georgia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573" y="4937760"/>
            <a:ext cx="20763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7665"/>
                </a:solidFill>
                <a:latin typeface="Calibri"/>
              </a:rPr>
              <a:t>Ethiopian banks tracked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4427" y="3474720"/>
            <a:ext cx="26250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3794760"/>
            <a:ext cx="207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07856"/>
                </a:solidFill>
                <a:latin typeface="Georgia"/>
              </a:rPr>
              <a:t>UCP 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4937760"/>
            <a:ext cx="20763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7665"/>
                </a:solidFill>
                <a:latin typeface="Calibri"/>
              </a:rPr>
              <a:t>Compliant LC workflows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6601" y="3474720"/>
            <a:ext cx="26250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921" y="3794760"/>
            <a:ext cx="207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07856"/>
                </a:solidFill>
                <a:latin typeface="Georgia"/>
              </a:rPr>
              <a:t>ETB · USD</a:t>
            </a:r>
          </a:p>
          <a:p>
            <a:pPr algn="l"/>
            <a:r>
              <a:rPr sz="2800" b="1" i="0">
                <a:solidFill>
                  <a:srgbClr val="E07856"/>
                </a:solidFill>
                <a:latin typeface="Georgia"/>
              </a:rPr>
              <a:t>EUR · AED · CNY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921" y="4937760"/>
            <a:ext cx="20763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7665"/>
                </a:solidFill>
                <a:latin typeface="Calibri"/>
              </a:rPr>
              <a:t>Native multi-currency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WHAT IT 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Eleven modules.</a:t>
            </a:r>
          </a:p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One calm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Letters of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UCP 600 ready. Draft, track, settle — with bank-by-bank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2253" y="2331720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6573" y="260604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Customs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573" y="3566160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CIF, duty, VAT, surtax and withholding — auto-calculated.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2331720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8747" y="260604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747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747" y="320040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Shipments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3566160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End-to-end tracking from supplier yard to your warehouse.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6601" y="2331720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00921" y="2606040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0921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0921" y="320040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0921" y="3566160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Post-clearance stock, warehouse utilization, reorder alerts.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43399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617719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79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Cash Against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39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Export-side payment instruments and NBE forex preview.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2253" y="4343399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76573" y="4617719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6573" y="46177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FN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6573" y="5212079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6573" y="5577839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Expenses, petty cash, payables and receivables in ETB.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4427" y="4343399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38747" y="4617719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8747" y="46177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FX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8747" y="5212079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Exchange Rates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8747" y="5577839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Live ETB rates from 26 banks, refreshed every five minutes.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26601" y="4343399"/>
            <a:ext cx="2625013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00921" y="4617719"/>
            <a:ext cx="457200" cy="45720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0921" y="46177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07856"/>
                </a:solidFill>
                <a:latin typeface="Georgia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0921" y="5212079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2817"/>
                </a:solidFill>
                <a:latin typeface="Calibri"/>
              </a:rPr>
              <a:t>AI Insights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0921" y="5577839"/>
            <a:ext cx="2076373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B7665"/>
                </a:solidFill>
                <a:latin typeface="Calibri"/>
              </a:rPr>
              <a:t>Risk scoring, FX hedging hints and shipment consolidation.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CAPABILITIES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01 ·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Executive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A real-time overview of every active LC, shipment, customs case and inventory line — built for daily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Live KPI cards across the entire 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Monthly trade volume trend &amp; FX averages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Recent shipments and AI risk feed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One-click report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 &amp; EXPORTERS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02 ·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Letters of Credit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Manage every bank-issued LC from draft to settlement — without leaving the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Proforma, supplier, bank and Incoterms in one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Auto-calculated FOB + freight + insurance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Partial shipment and transshipment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Expiry watch and document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c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03 ·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Shipment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From supplier loading bay to your Addis warehouse — six-stage live tracking with port-level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Six-stage route progress per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Bill of lading and declaration numbers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Djibouti port congestion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Demurrage and document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ipment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04 ·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Inventory &amp; Warehouse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Post-clearance stock, warehouse utilization and forecasting — kept honest by your shipment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SKU-level stock across multiple warehouses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Low-stock and reservation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Per-warehouse capacity utilization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AI-suggested reorder 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nventory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05 ·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Customs &amp; Tax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Compute CIF, item taxes and the total assessed amount for any import declaration — print-ready notices included.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CIF auto-build from FOB, freight, insurance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Duty, VAT, surtax, withholding 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Inland costs and exchange-rate aware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Save as PDF or print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ustom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06 ·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Cash Against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Manage outbound payment instruments and preview NBE forex settlement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CAD register with buyer, bank,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Status flow: draft → sent → settled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FOB and total contract value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Per-CAD product and document lineage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d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EXPORTERS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07 ·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Export Shipments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Track outbound consignments from Ethiopian origins through transit ports to international destinations.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Vessel, BL number, ETD and 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Buyer, route and transit port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FOB value and weight per shipment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Status from preparing to 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xport_shipment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EXPORTERS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08 ·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Financial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Expenses, petty cash, supplier payables and customer receivables — all in Ethiopian Birr, all in one tab.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Six tabs · dashboard to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Low petty cash alerts and progress bars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A/P and A/R with multi-currency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Expense-by-category and trade-position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nanc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 &amp; EXPORTERS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09 ·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D2817"/>
                </a:solidFill>
                <a:latin typeface="Georgia"/>
              </a:rPr>
              <a:t>Live Exchange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5720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Live USD/ETB rates from every major Ethiopian bank — refreshed every five minutes with a built-in converter.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673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Buy and sell rates from 26 banks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Best transaction and cash buy spotlights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817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Market mid-rate and average spread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73152" cy="7315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2817"/>
                </a:solidFill>
                <a:latin typeface="Calibri"/>
              </a:rPr>
              <a:t>Currency converter for instant quotes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95528"/>
            <a:ext cx="5998464" cy="531266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ate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68680"/>
            <a:ext cx="5852160" cy="5166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FOR IMPORTERS &amp; EXPORTERS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MODULE 10 ·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2817"/>
                </a:solidFill>
                <a:latin typeface="Georgia"/>
              </a:rPr>
              <a:t>AI Insights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Risk scoring, FX hedging hints and shipment consolidation suggestions —</a:t>
            </a:r>
          </a:p>
          <a:p>
            <a:pPr algn="l"/>
            <a:r>
              <a:rPr sz="1200" b="0" i="0">
                <a:solidFill>
                  <a:srgbClr val="8B7665"/>
                </a:solidFill>
                <a:latin typeface="Calibri"/>
              </a:rPr>
              <a:t>powered by GPT-4o, tuned for Ethiopian trade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52120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07856"/>
                </a:solidFill>
                <a:latin typeface="Calibri"/>
              </a:rPr>
              <a:t>WHO IT'S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D2817"/>
                </a:solidFill>
                <a:latin typeface="Georgia"/>
              </a:rPr>
              <a:t>Importers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Open and settle LCs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010912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919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Customs &amp; duty filing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58384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26694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Inland logistics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705856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61441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Inventory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D2817"/>
                </a:solidFill>
                <a:latin typeface="Georgia"/>
              </a:rPr>
              <a:t>Exporters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663440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Sourcing &amp; purchases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5010912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919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CAD instruments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358384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526694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Outbound shipments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705856"/>
            <a:ext cx="54864" cy="54864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561441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2817"/>
                </a:solidFill>
                <a:latin typeface="Calibri"/>
              </a:rPr>
              <a:t>FX &amp; receivables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841248"/>
            <a:ext cx="5541264" cy="5175504"/>
          </a:xfrm>
          <a:prstGeom prst="rect">
            <a:avLst/>
          </a:prstGeom>
          <a:solidFill>
            <a:srgbClr val="FFFFFF"/>
          </a:solidFill>
          <a:ln w="9525">
            <a:solidFill>
              <a:srgbClr val="E9C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i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94960" cy="50292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8B7665"/>
                </a:solidFill>
                <a:latin typeface="Calibri"/>
              </a:rPr>
              <a:t>EXIMMAN  ·  My Import &amp; Export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8B7665"/>
                </a:solidFill>
                <a:latin typeface="Calibri"/>
              </a:rPr>
              <a:t>SMART BY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11535" cy="5577840"/>
          </a:xfrm>
          <a:prstGeom prst="rect">
            <a:avLst/>
          </a:prstGeom>
          <a:solidFill>
            <a:srgbClr val="F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137160" cy="55778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07856"/>
                </a:solidFill>
                <a:latin typeface="Calibri"/>
              </a:rPr>
              <a:t>READY WHEN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3D2817"/>
                </a:solidFill>
                <a:latin typeface="Georgia"/>
              </a:rPr>
              <a:t>Run your import</a:t>
            </a:r>
          </a:p>
          <a:p>
            <a:pPr algn="l"/>
            <a:r>
              <a:rPr sz="4600" b="1" i="0">
                <a:solidFill>
                  <a:srgbClr val="3D2817"/>
                </a:solidFill>
                <a:latin typeface="Georgia"/>
              </a:rPr>
              <a:t>and export business</a:t>
            </a:r>
          </a:p>
          <a:p>
            <a:pPr algn="l"/>
            <a:r>
              <a:rPr sz="4600" b="1" i="0">
                <a:solidFill>
                  <a:srgbClr val="3D2817"/>
                </a:solidFill>
                <a:latin typeface="Georgia"/>
              </a:rPr>
              <a:t>from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7665"/>
                </a:solidFill>
                <a:latin typeface="Calibri"/>
              </a:rPr>
              <a:t>Open your first LC, file a customs declaration, track a shipment to Modjo,</a:t>
            </a:r>
          </a:p>
          <a:p>
            <a:pPr algn="l"/>
            <a:r>
              <a:rPr sz="1400" b="0" i="1">
                <a:solidFill>
                  <a:srgbClr val="8B7665"/>
                </a:solidFill>
                <a:latin typeface="Calibri"/>
              </a:rPr>
              <a:t>or reconcile a CAD — all in your first afternoon with EXIMMAN.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212080"/>
            <a:ext cx="2377440" cy="64008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Sign in to dashboard 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212080"/>
            <a:ext cx="2377440" cy="640080"/>
          </a:xfrm>
          <a:prstGeom prst="rect">
            <a:avLst/>
          </a:prstGeom>
          <a:solidFill>
            <a:srgbClr val="FFF4ED"/>
          </a:solidFill>
          <a:ln w="12700">
            <a:solidFill>
              <a:srgbClr val="E07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5212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07856"/>
                </a:solidFill>
                <a:latin typeface="Calibri"/>
              </a:rPr>
              <a:t>Request a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8B7665"/>
                </a:solidFill>
                <a:latin typeface="Calibri"/>
              </a:rPr>
              <a:t>EXIMMAN  ·  My Import &amp; Export Manager  ·  Addis Ababa, Ethiopia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766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